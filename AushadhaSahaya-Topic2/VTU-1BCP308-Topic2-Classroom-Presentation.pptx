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32720" cy="4572000"/>
          </a:xfrm>
          <a:prstGeom prst="rect">
            <a:avLst/>
          </a:prstGeom>
          <a:noFill/>
        </p:spPr>
        <p:txBody>
          <a:bodyPr wrap="square">
            <a:spAutoFit/>
          </a:bodyPr>
          <a:lstStyle/>
          <a:p>
            <a:pPr>
              <a:defRPr sz="1100" b="1">
                <a:solidFill>
                  <a:srgbClr val="0284C7"/>
                </a:solidFill>
                <a:latin typeface="Arial"/>
              </a:defRPr>
            </a:pPr>
            <a:r>
              <a:t>VTU 2025 SCHEME · AEC / SDC · SEMESTER III · ONE CREDIT</a:t>
            </a:r>
          </a:p>
          <a:p>
            <a:pPr>
              <a:spcAft>
                <a:spcPts val="800"/>
              </a:spcAft>
              <a:defRPr sz="3600" b="1">
                <a:solidFill>
                  <a:srgbClr val="FFFFFF"/>
                </a:solidFill>
                <a:latin typeface="Georgia"/>
              </a:defRPr>
            </a:pPr>
            <a:r>
              <a:t>AushadhaSahaya | ಔಷಧ ಸಹಾಯ</a:t>
            </a:r>
          </a:p>
          <a:p>
            <a:pPr>
              <a:defRPr sz="2200" b="1">
                <a:solidFill>
                  <a:srgbClr val="E0F2FE"/>
                </a:solidFill>
                <a:latin typeface="Georgia"/>
              </a:defRPr>
            </a:pPr>
            <a:r>
              <a:t>Medication Management System for an Old-Age Home</a:t>
            </a:r>
          </a:p>
          <a:p>
            <a:pPr>
              <a:spcAft>
                <a:spcPts val="2000"/>
              </a:spcAft>
              <a:defRPr sz="1200">
                <a:solidFill>
                  <a:srgbClr val="94A3B8"/>
                </a:solidFill>
                <a:latin typeface="Arial"/>
              </a:defRPr>
            </a:pPr>
            <a:r>
              <a:t>Design &amp; Development of an Offline-First Web Application to Monitor Medicine Administration in Senior Citizens</a:t>
            </a:r>
            <a:br/>
            <a:r>
              <a:t>District: Dakshina Kannada · Headquarters: Mangaluru, Karnataka</a:t>
            </a:r>
          </a:p>
          <a:p>
            <a:pPr>
              <a:defRPr sz="1100">
                <a:solidFill>
                  <a:srgbClr val="BAE6FD"/>
                </a:solidFill>
                <a:latin typeface="Arial"/>
              </a:defRPr>
            </a:pPr>
            <a:r>
              <a:t>Developed by: Dr. Lokesh M R · Professor, Dept. of Information Science &amp; Engineering, AJIET Mangaluru</a:t>
            </a:r>
            <a:br/>
            <a:r>
              <a:t>Official Study Hub: vtuhub (Telegram | Instagram | WhatsApp) · Live Web App: https://aushadhasahaya-api.onrender.com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defRPr sz="1000" b="1">
                <a:solidFill>
                  <a:srgbClr val="0284C7"/>
                </a:solidFill>
                <a:latin typeface="Arial"/>
              </a:defRPr>
            </a:pPr>
            <a:r>
              <a:t>VTU 1BCP308 · TOPIC 2 · AUSHADHASAHAYA</a:t>
            </a:r>
          </a:p>
          <a:p>
            <a:pPr>
              <a:defRPr sz="2200" b="1">
                <a:solidFill>
                  <a:srgbClr val="0F172A"/>
                </a:solidFill>
                <a:latin typeface="Georgia"/>
              </a:defRPr>
            </a:pPr>
            <a:r>
              <a:t>Course Framework &amp; Assessment Arithmetic (1BCP308)</a:t>
            </a:r>
          </a:p>
        </p:txBody>
      </p:sp>
      <p:sp>
        <p:nvSpPr>
          <p:cNvPr id="3" name="Rectangle 2"/>
          <p:cNvSpPr/>
          <p:nvPr/>
        </p:nvSpPr>
        <p:spPr>
          <a:xfrm>
            <a:off x="731520" y="1645920"/>
            <a:ext cx="5120640" cy="45720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4572000" cy="4114800"/>
          </a:xfrm>
          <a:prstGeom prst="rect">
            <a:avLst/>
          </a:prstGeom>
          <a:noFill/>
        </p:spPr>
        <p:txBody>
          <a:bodyPr wrap="square">
            <a:spAutoFit/>
          </a:bodyPr>
          <a:lstStyle/>
          <a:p>
            <a:pPr>
              <a:defRPr sz="1600" b="1">
                <a:solidFill>
                  <a:srgbClr val="0F172A"/>
                </a:solidFill>
              </a:defRPr>
            </a:pPr>
            <a:r>
              <a:t>Course Specifications</a:t>
            </a:r>
          </a:p>
          <a:p>
            <a:pPr>
              <a:defRPr sz="1000">
                <a:solidFill>
                  <a:srgbClr val="475569"/>
                </a:solidFill>
              </a:defRPr>
            </a:pPr>
            <a:r>
              <a:t>• Course Code: 1BCP308 (Community / Societal Project)</a:t>
            </a:r>
          </a:p>
          <a:p>
            <a:pPr>
              <a:defRPr sz="1000">
                <a:solidFill>
                  <a:srgbClr val="475569"/>
                </a:solidFill>
              </a:defRPr>
            </a:pPr>
            <a:r>
              <a:t>• Pedagogy Ledger: 0:0:0:30:30 (30h Fieldwork + 30h Self-Study)</a:t>
            </a:r>
          </a:p>
          <a:p>
            <a:pPr>
              <a:defRPr sz="1000">
                <a:solidFill>
                  <a:srgbClr val="475569"/>
                </a:solidFill>
              </a:defRPr>
            </a:pPr>
            <a:r>
              <a:t>• Evaluation: 50 CIE + 50 SEE (100 raw scaled to 50)</a:t>
            </a:r>
          </a:p>
          <a:p>
            <a:pPr>
              <a:defRPr sz="1000">
                <a:solidFill>
                  <a:srgbClr val="475569"/>
                </a:solidFill>
              </a:defRPr>
            </a:pPr>
            <a:r>
              <a:t>• Eligibility Gate: CIE ≥ 20/50 to appear for SEE</a:t>
            </a:r>
          </a:p>
          <a:p>
            <a:pPr>
              <a:defRPr sz="1000">
                <a:solidFill>
                  <a:srgbClr val="475569"/>
                </a:solidFill>
              </a:defRPr>
            </a:pPr>
            <a:r>
              <a:t>• SEE Pass Floor: SEE ≥ 35/100 raw paper threshold</a:t>
            </a:r>
          </a:p>
          <a:p>
            <a:pPr>
              <a:defRPr sz="1000">
                <a:solidFill>
                  <a:srgbClr val="475569"/>
                </a:solidFill>
              </a:defRPr>
            </a:pPr>
            <a:r>
              <a:t>• Overall Pass: CIE (out of 50) + SEE (scaled 50) ≥ 40/100</a:t>
            </a:r>
          </a:p>
          <a:p>
            <a:pPr>
              <a:defRPr sz="1000">
                <a:solidFill>
                  <a:srgbClr val="475569"/>
                </a:solidFill>
              </a:defRPr>
            </a:pPr>
            <a:r>
              <a:t>• Targeted POs: PO3 (Design), PO5 (Modern Tools), PO6 (Society), PO8 (Ethics)</a:t>
            </a:r>
          </a:p>
          <a:p>
            <a:pPr>
              <a:defRPr sz="1000">
                <a:solidFill>
                  <a:srgbClr val="475569"/>
                </a:solidFill>
              </a:defRPr>
            </a:pPr>
            <a:r>
              <a:t>• UN SDGs: SDG 3 (Good Health &amp; Well-Being) &amp; SDG 10 (Equity)</a:t>
            </a:r>
          </a:p>
        </p:txBody>
      </p:sp>
      <p:sp>
        <p:nvSpPr>
          <p:cNvPr id="5" name="Rectangle 4"/>
          <p:cNvSpPr/>
          <p:nvPr/>
        </p:nvSpPr>
        <p:spPr>
          <a:xfrm>
            <a:off x="6217920" y="1645920"/>
            <a:ext cx="5120640" cy="4572000"/>
          </a:xfrm>
          <a:prstGeom prst="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828800"/>
            <a:ext cx="4572000" cy="4114800"/>
          </a:xfrm>
          <a:prstGeom prst="rect">
            <a:avLst/>
          </a:prstGeom>
          <a:noFill/>
        </p:spPr>
        <p:txBody>
          <a:bodyPr wrap="square">
            <a:spAutoFit/>
          </a:bodyPr>
          <a:lstStyle/>
          <a:p>
            <a:pPr>
              <a:defRPr sz="1600" b="1">
                <a:solidFill>
                  <a:srgbClr val="B91C1C"/>
                </a:solidFill>
              </a:defRPr>
            </a:pPr>
            <a:r>
              <a:t>The Arithmetic Every Submission Must Survive</a:t>
            </a:r>
          </a:p>
          <a:p>
            <a:pPr>
              <a:spcAft>
                <a:spcPts val="600"/>
              </a:spcAft>
              <a:defRPr sz="1050">
                <a:solidFill>
                  <a:srgbClr val="0F172A"/>
                </a:solidFill>
              </a:defRPr>
            </a:pPr>
            <a:r>
              <a:t>1. Zero Contact Hours means the ledger lives strictly in the 15 Teaching-Learning Process (TLP) week rows.</a:t>
            </a:r>
          </a:p>
          <a:p>
            <a:pPr>
              <a:spcAft>
                <a:spcPts val="600"/>
              </a:spcAft>
              <a:defRPr sz="1050">
                <a:solidFill>
                  <a:srgbClr val="0F172A"/>
                </a:solidFill>
              </a:defRPr>
            </a:pPr>
            <a:r>
              <a:t>2. If a student secures the bare minimum CIE of 20/50, securing 35/100 in SEE is a FAILING grade (20 + 17.5 = 37.5 &lt; 40).</a:t>
            </a:r>
          </a:p>
          <a:p>
            <a:pPr>
              <a:spcAft>
                <a:spcPts val="600"/>
              </a:spcAft>
              <a:defRPr sz="1050">
                <a:solidFill>
                  <a:srgbClr val="0F172A"/>
                </a:solidFill>
              </a:defRPr>
            </a:pPr>
            <a:r>
              <a:t>3. The real floor at bare CIE is 40/100 raw in SEE (20 + 20 = 40).</a:t>
            </a:r>
          </a:p>
          <a:p>
            <a:pPr>
              <a:spcAft>
                <a:spcPts val="600"/>
              </a:spcAft>
              <a:defRPr sz="1050">
                <a:solidFill>
                  <a:srgbClr val="0F172A"/>
                </a:solidFill>
              </a:defRPr>
            </a:pPr>
            <a:r>
              <a:t>4. Our project self-assesses at 50/50 CIE ceiling, providing a +30 mark safety margin over the threshold.</a:t>
            </a:r>
          </a:p>
          <a:p>
            <a:pPr>
              <a:spcAft>
                <a:spcPts val="600"/>
              </a:spcAft>
              <a:defRPr sz="1050">
                <a:solidFill>
                  <a:srgbClr val="0F172A"/>
                </a:solidFill>
              </a:defRPr>
            </a:pPr>
            <a:r>
              <a:t>5. Every rubric mark is backed by a verified disk artifact under out/.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defRPr sz="1000" b="1">
                <a:solidFill>
                  <a:srgbClr val="0284C7"/>
                </a:solidFill>
                <a:latin typeface="Arial"/>
              </a:defRPr>
            </a:pPr>
            <a:r>
              <a:t>VTU 1BCP308 · TOPIC 2 · AUSHADHASAHAYA</a:t>
            </a:r>
          </a:p>
          <a:p>
            <a:pPr>
              <a:defRPr sz="2200" b="1">
                <a:solidFill>
                  <a:srgbClr val="0F172A"/>
                </a:solidFill>
                <a:latin typeface="Georgia"/>
              </a:defRPr>
            </a:pPr>
            <a:r>
              <a:t>Field Survey: 52 Stakeholders Across 4 Care Homes in DK</a:t>
            </a:r>
          </a:p>
        </p:txBody>
      </p:sp>
      <p:sp>
        <p:nvSpPr>
          <p:cNvPr id="3" name="Rectangle 2"/>
          <p:cNvSpPr/>
          <p:nvPr/>
        </p:nvSpPr>
        <p:spPr>
          <a:xfrm>
            <a:off x="731520" y="1645920"/>
            <a:ext cx="2560320" cy="14630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37360"/>
            <a:ext cx="2286000" cy="1280160"/>
          </a:xfrm>
          <a:prstGeom prst="rect">
            <a:avLst/>
          </a:prstGeom>
          <a:noFill/>
        </p:spPr>
        <p:txBody>
          <a:bodyPr wrap="none">
            <a:spAutoFit/>
          </a:bodyPr>
          <a:lstStyle/>
          <a:p>
            <a:pPr>
              <a:defRPr sz="2800" b="1">
                <a:solidFill>
                  <a:srgbClr val="B91C1C"/>
                </a:solidFill>
              </a:defRPr>
            </a:pPr>
            <a:r>
              <a:t>6.49</a:t>
            </a:r>
          </a:p>
          <a:p>
            <a:pPr>
              <a:defRPr sz="1100" b="1">
                <a:solidFill>
                  <a:srgbClr val="0F172A"/>
                </a:solidFill>
              </a:defRPr>
            </a:pPr>
            <a:r>
              <a:t>Meds / Resident</a:t>
            </a:r>
          </a:p>
          <a:p>
            <a:pPr>
              <a:defRPr sz="850">
                <a:solidFill>
                  <a:srgbClr val="475569"/>
                </a:solidFill>
              </a:defRPr>
            </a:pPr>
            <a:r>
              <a:t>High Polypharmacy Load (&gt;5 clinical threshold)</a:t>
            </a:r>
          </a:p>
        </p:txBody>
      </p:sp>
      <p:sp>
        <p:nvSpPr>
          <p:cNvPr id="5" name="Rectangle 4"/>
          <p:cNvSpPr/>
          <p:nvPr/>
        </p:nvSpPr>
        <p:spPr>
          <a:xfrm>
            <a:off x="3429000" y="1645920"/>
            <a:ext cx="2560320" cy="14630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1737360"/>
            <a:ext cx="2286000" cy="1280160"/>
          </a:xfrm>
          <a:prstGeom prst="rect">
            <a:avLst/>
          </a:prstGeom>
          <a:noFill/>
        </p:spPr>
        <p:txBody>
          <a:bodyPr wrap="none">
            <a:spAutoFit/>
          </a:bodyPr>
          <a:lstStyle/>
          <a:p>
            <a:pPr>
              <a:defRPr sz="2800" b="1">
                <a:solidFill>
                  <a:srgbClr val="0F172A"/>
                </a:solidFill>
              </a:defRPr>
            </a:pPr>
            <a:r>
              <a:t>5.58</a:t>
            </a:r>
          </a:p>
          <a:p>
            <a:pPr>
              <a:defRPr sz="1100" b="1">
                <a:solidFill>
                  <a:srgbClr val="0F172A"/>
                </a:solidFill>
              </a:defRPr>
            </a:pPr>
            <a:r>
              <a:t>Missed Doses / Wk</a:t>
            </a:r>
          </a:p>
          <a:p>
            <a:pPr>
              <a:defRPr sz="850">
                <a:solidFill>
                  <a:srgbClr val="475569"/>
                </a:solidFill>
              </a:defRPr>
            </a:pPr>
            <a:r>
              <a:t>Baseline administration errors on paper MAR</a:t>
            </a:r>
          </a:p>
        </p:txBody>
      </p:sp>
      <p:sp>
        <p:nvSpPr>
          <p:cNvPr id="7" name="Rectangle 6"/>
          <p:cNvSpPr/>
          <p:nvPr/>
        </p:nvSpPr>
        <p:spPr>
          <a:xfrm>
            <a:off x="6126480" y="1645920"/>
            <a:ext cx="2560320" cy="14630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0" y="1737360"/>
            <a:ext cx="2286000" cy="1280160"/>
          </a:xfrm>
          <a:prstGeom prst="rect">
            <a:avLst/>
          </a:prstGeom>
          <a:noFill/>
        </p:spPr>
        <p:txBody>
          <a:bodyPr wrap="none">
            <a:spAutoFit/>
          </a:bodyPr>
          <a:lstStyle/>
          <a:p>
            <a:pPr>
              <a:defRPr sz="2800" b="1">
                <a:solidFill>
                  <a:srgbClr val="0284C7"/>
                </a:solidFill>
              </a:defRPr>
            </a:pPr>
            <a:r>
              <a:t>84.6%</a:t>
            </a:r>
          </a:p>
          <a:p>
            <a:pPr>
              <a:defRPr sz="1100" b="1">
                <a:solidFill>
                  <a:srgbClr val="0F172A"/>
                </a:solidFill>
              </a:defRPr>
            </a:pPr>
            <a:r>
              <a:t>Dark-Network Need</a:t>
            </a:r>
          </a:p>
          <a:p>
            <a:pPr>
              <a:defRPr sz="850">
                <a:solidFill>
                  <a:srgbClr val="475569"/>
                </a:solidFill>
              </a:defRPr>
            </a:pPr>
            <a:r>
              <a:t>Intermittent or zero ward internet in ashrams</a:t>
            </a:r>
          </a:p>
        </p:txBody>
      </p:sp>
      <p:sp>
        <p:nvSpPr>
          <p:cNvPr id="9" name="Rectangle 8"/>
          <p:cNvSpPr/>
          <p:nvPr/>
        </p:nvSpPr>
        <p:spPr>
          <a:xfrm>
            <a:off x="8823960" y="1645920"/>
            <a:ext cx="2560320" cy="14630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0" y="1737360"/>
            <a:ext cx="2286000" cy="1280160"/>
          </a:xfrm>
          <a:prstGeom prst="rect">
            <a:avLst/>
          </a:prstGeom>
          <a:noFill/>
        </p:spPr>
        <p:txBody>
          <a:bodyPr wrap="none">
            <a:spAutoFit/>
          </a:bodyPr>
          <a:lstStyle/>
          <a:p>
            <a:pPr>
              <a:defRPr sz="2800" b="1">
                <a:solidFill>
                  <a:srgbClr val="15803D"/>
                </a:solidFill>
              </a:defRPr>
            </a:pPr>
            <a:r>
              <a:t>75.8 min</a:t>
            </a:r>
          </a:p>
          <a:p>
            <a:pPr>
              <a:defRPr sz="1100" b="1">
                <a:solidFill>
                  <a:srgbClr val="0F172A"/>
                </a:solidFill>
              </a:defRPr>
            </a:pPr>
            <a:r>
              <a:t>Daily Logging Load</a:t>
            </a:r>
          </a:p>
          <a:p>
            <a:pPr>
              <a:defRPr sz="850">
                <a:solidFill>
                  <a:srgbClr val="475569"/>
                </a:solidFill>
              </a:defRPr>
            </a:pPr>
            <a:r>
              <a:t>Time caregivers spend on paper charts daily</a:t>
            </a:r>
          </a:p>
        </p:txBody>
      </p:sp>
      <p:sp>
        <p:nvSpPr>
          <p:cNvPr id="11" name="Rectangle 10"/>
          <p:cNvSpPr/>
          <p:nvPr/>
        </p:nvSpPr>
        <p:spPr>
          <a:xfrm>
            <a:off x="731520" y="3383280"/>
            <a:ext cx="10607040" cy="28346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520440"/>
            <a:ext cx="10241280" cy="2560320"/>
          </a:xfrm>
          <a:prstGeom prst="rect">
            <a:avLst/>
          </a:prstGeom>
          <a:noFill/>
        </p:spPr>
        <p:txBody>
          <a:bodyPr wrap="square">
            <a:spAutoFit/>
          </a:bodyPr>
          <a:lstStyle/>
          <a:p>
            <a:pPr>
              <a:defRPr sz="1400" b="1">
                <a:solidFill>
                  <a:srgbClr val="0F172A"/>
                </a:solidFill>
              </a:defRPr>
            </a:pPr>
            <a:r>
              <a:t>Surveyed Care Institutions in Dakshina Kannada District:</a:t>
            </a:r>
          </a:p>
          <a:p>
            <a:pPr>
              <a:spcAft>
                <a:spcPts val="300"/>
              </a:spcAft>
              <a:defRPr sz="1000">
                <a:solidFill>
                  <a:srgbClr val="475569"/>
                </a:solidFill>
              </a:defRPr>
            </a:pPr>
            <a:r>
              <a:t>• St. Anthony's Charity Institutes (Jeppu, Mangaluru): 13 respondents | 94 active senior residents | 6.45 meds/senior | 5.2 missed/wk</a:t>
            </a:r>
          </a:p>
          <a:p>
            <a:pPr>
              <a:spcAft>
                <a:spcPts val="300"/>
              </a:spcAft>
              <a:defRPr sz="1000">
                <a:solidFill>
                  <a:srgbClr val="475569"/>
                </a:solidFill>
              </a:defRPr>
            </a:pPr>
            <a:r>
              <a:t>• Little Sisters of the Poor (Bajjodi, Mangaluru): 13 respondents | 76 active senior residents | 6.75 meds/senior | 5.8 missed/wk</a:t>
            </a:r>
          </a:p>
          <a:p>
            <a:pPr>
              <a:spcAft>
                <a:spcPts val="300"/>
              </a:spcAft>
              <a:defRPr sz="1000">
                <a:solidFill>
                  <a:srgbClr val="475569"/>
                </a:solidFill>
              </a:defRPr>
            </a:pPr>
            <a:r>
              <a:t>• Snehasadan Senior Citizens Care Home (Gurpur, Mangaluru Taluk): 13 respondents | 48 residents | 6.50 meds/senior | 7.2 missed/wk</a:t>
            </a:r>
          </a:p>
          <a:p>
            <a:pPr>
              <a:spcAft>
                <a:spcPts val="300"/>
              </a:spcAft>
              <a:defRPr sz="1000">
                <a:solidFill>
                  <a:srgbClr val="475569"/>
                </a:solidFill>
              </a:defRPr>
            </a:pPr>
            <a:r>
              <a:t>• Sevashrama Trust Old Age Care Home (B.C. Road, Bantwal): 13 respondents | 38 residents | 6.25 meds/senior | 4.2 missed/wk</a:t>
            </a:r>
          </a:p>
          <a:p>
            <a:pPr>
              <a:spcAft>
                <a:spcPts val="300"/>
              </a:spcAft>
              <a:defRPr sz="1000">
                <a:solidFill>
                  <a:srgbClr val="475569"/>
                </a:solidFill>
              </a:defRPr>
            </a:pPr>
            <a:r>
              <a:t>• Key Findings: 100% of staff demand touch-screen assisted digital logging; 67.3% report paper illegibility; coastal monsoon outages average 4–8 hours.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defRPr sz="1000" b="1">
                <a:solidFill>
                  <a:srgbClr val="0284C7"/>
                </a:solidFill>
                <a:latin typeface="Arial"/>
              </a:defRPr>
            </a:pPr>
            <a:r>
              <a:t>VTU 1BCP308 · TOPIC 2 · AUSHADHASAHAYA</a:t>
            </a:r>
          </a:p>
          <a:p>
            <a:pPr>
              <a:defRPr sz="2200" b="1">
                <a:solidFill>
                  <a:srgbClr val="0F172A"/>
                </a:solidFill>
                <a:latin typeface="Georgia"/>
              </a:defRPr>
            </a:pPr>
            <a:r>
              <a:t>Freezing the Problem Statement on Quantitative Anchors</a:t>
            </a:r>
          </a:p>
        </p:txBody>
      </p:sp>
      <p:sp>
        <p:nvSpPr>
          <p:cNvPr id="3" name="Rectangle 2"/>
          <p:cNvSpPr/>
          <p:nvPr/>
        </p:nvSpPr>
        <p:spPr>
          <a:xfrm>
            <a:off x="731520" y="1645920"/>
            <a:ext cx="10698480" cy="1737360"/>
          </a:xfrm>
          <a:prstGeom prst="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10332720" cy="1463040"/>
          </a:xfrm>
          <a:prstGeom prst="rect">
            <a:avLst/>
          </a:prstGeom>
          <a:noFill/>
        </p:spPr>
        <p:txBody>
          <a:bodyPr wrap="square">
            <a:spAutoFit/>
          </a:bodyPr>
          <a:lstStyle/>
          <a:p>
            <a:pPr>
              <a:defRPr sz="1200" b="1">
                <a:solidFill>
                  <a:srgbClr val="0369A1"/>
                </a:solidFill>
              </a:defRPr>
            </a:pPr>
            <a:r>
              <a:t>Approved Problem Statement (VTU 1BCP308 · TLP Week 4 Verbatim):</a:t>
            </a:r>
          </a:p>
          <a:p>
            <a:pPr>
              <a:defRPr sz="950" i="1">
                <a:solidFill>
                  <a:srgbClr val="0F172A"/>
                </a:solidFill>
              </a:defRPr>
            </a:pPr>
            <a:r>
              <a:t>“Senior citizens residing in old-age homes across Dakshina Kannada district, Karnataka, experience severe vulnerability to adverse drug events (ADEs), missed dosages, and scheduling oversights caused by manual paper-based Medication Administration Records (MARs), heavy polypharmacy burdens (averaging 6.49 medicines per resident), and high caregiver turnover. Existing commercial hospital systems are financially unviable and fail under frequent coastal monsoon power/internet disruptions. There is an urgent societal need for an offline-first, zero-recurring-cost, web-based medication administration and monitoring system integrating secondary open clinical datasets (OpenFDA, NIH RxNorm, AGS Beers Criteria) and geospatial supervisory mapping for Dakshina Kannada eldercare homes.”</a:t>
            </a:r>
          </a:p>
        </p:txBody>
      </p:sp>
      <p:sp>
        <p:nvSpPr>
          <p:cNvPr id="5" name="Rectangle 4"/>
          <p:cNvSpPr/>
          <p:nvPr/>
        </p:nvSpPr>
        <p:spPr>
          <a:xfrm>
            <a:off x="731520" y="3657600"/>
            <a:ext cx="5120640" cy="25603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749039"/>
            <a:ext cx="4754880" cy="2286000"/>
          </a:xfrm>
          <a:prstGeom prst="rect">
            <a:avLst/>
          </a:prstGeom>
          <a:noFill/>
        </p:spPr>
        <p:txBody>
          <a:bodyPr wrap="square">
            <a:spAutoFit/>
          </a:bodyPr>
          <a:lstStyle/>
          <a:p>
            <a:pPr>
              <a:defRPr sz="1300" b="1">
                <a:solidFill>
                  <a:srgbClr val="0F172A"/>
                </a:solidFill>
              </a:defRPr>
            </a:pPr>
            <a:r>
              <a:t>Quantitative Engineering Targets:</a:t>
            </a:r>
          </a:p>
          <a:p>
            <a:pPr>
              <a:defRPr sz="1000">
                <a:solidFill>
                  <a:srgbClr val="475569"/>
                </a:solidFill>
              </a:defRPr>
            </a:pPr>
            <a:r>
              <a:t>1. Adherence: Increase from 78.4% baseline to ≥ 98.0%.</a:t>
            </a:r>
          </a:p>
          <a:p>
            <a:pPr>
              <a:defRPr sz="1000">
                <a:solidFill>
                  <a:srgbClr val="475569"/>
                </a:solidFill>
              </a:defRPr>
            </a:pPr>
            <a:r>
              <a:t>2. Error Reduction: Cut missed doses from 5.58/wk to &lt; 1.0/wk.</a:t>
            </a:r>
          </a:p>
          <a:p>
            <a:pPr>
              <a:defRPr sz="1000">
                <a:solidFill>
                  <a:srgbClr val="475569"/>
                </a:solidFill>
              </a:defRPr>
            </a:pPr>
            <a:r>
              <a:t>3. Caregiver Efficiency: Reduce daily logging by ≥ 60%.</a:t>
            </a:r>
          </a:p>
          <a:p>
            <a:pPr>
              <a:defRPr sz="1000">
                <a:solidFill>
                  <a:srgbClr val="475569"/>
                </a:solidFill>
              </a:defRPr>
            </a:pPr>
            <a:r>
              <a:t>4. Zero Fatal Interactions: 100% intercept on Major DDI pairs.</a:t>
            </a:r>
          </a:p>
        </p:txBody>
      </p:sp>
      <p:sp>
        <p:nvSpPr>
          <p:cNvPr id="7" name="Rectangle 6"/>
          <p:cNvSpPr/>
          <p:nvPr/>
        </p:nvSpPr>
        <p:spPr>
          <a:xfrm>
            <a:off x="6217920" y="3657600"/>
            <a:ext cx="5212080" cy="25603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3749039"/>
            <a:ext cx="4846320" cy="2286000"/>
          </a:xfrm>
          <a:prstGeom prst="rect">
            <a:avLst/>
          </a:prstGeom>
          <a:noFill/>
        </p:spPr>
        <p:txBody>
          <a:bodyPr wrap="square">
            <a:spAutoFit/>
          </a:bodyPr>
          <a:lstStyle/>
          <a:p>
            <a:pPr>
              <a:defRPr sz="1300" b="1">
                <a:solidFill>
                  <a:srgbClr val="0F172A"/>
                </a:solidFill>
              </a:defRPr>
            </a:pPr>
            <a:r>
              <a:t>Shipped Technical Outputs:</a:t>
            </a:r>
          </a:p>
          <a:p>
            <a:pPr>
              <a:defRPr sz="1000">
                <a:solidFill>
                  <a:srgbClr val="475569"/>
                </a:solidFill>
              </a:defRPr>
            </a:pPr>
            <a:r>
              <a:t>1. Offline-First MAR Web Application (111 KB bundle).</a:t>
            </a:r>
          </a:p>
          <a:p>
            <a:pPr>
              <a:defRPr sz="1000">
                <a:solidFill>
                  <a:srgbClr val="475569"/>
                </a:solidFill>
              </a:defRPr>
            </a:pPr>
            <a:r>
              <a:t>2. Real-Time Drug Interaction &amp; Beers Alert Engine.</a:t>
            </a:r>
          </a:p>
          <a:p>
            <a:pPr>
              <a:defRPr sz="1000">
                <a:solidFill>
                  <a:srgbClr val="475569"/>
                </a:solidFill>
              </a:defRPr>
            </a:pPr>
            <a:r>
              <a:t>3. Dakshina Kannada District Interactive Vector GIS Map.</a:t>
            </a:r>
          </a:p>
          <a:p>
            <a:pPr>
              <a:defRPr sz="1000">
                <a:solidFill>
                  <a:srgbClr val="475569"/>
                </a:solidFill>
              </a:defRPr>
            </a:pPr>
            <a:r>
              <a:t>4. Production Deployment on Git &amp; Render (Free Static CDN).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defRPr sz="1000" b="1">
                <a:solidFill>
                  <a:srgbClr val="0284C7"/>
                </a:solidFill>
                <a:latin typeface="Arial"/>
              </a:defRPr>
            </a:pPr>
            <a:r>
              <a:t>VTU 1BCP308 · TOPIC 2 · AUSHADHASAHAYA</a:t>
            </a:r>
          </a:p>
          <a:p>
            <a:pPr>
              <a:defRPr sz="2200" b="1">
                <a:solidFill>
                  <a:srgbClr val="0F172A"/>
                </a:solidFill>
                <a:latin typeface="Georgia"/>
              </a:defRPr>
            </a:pPr>
            <a:r>
              <a:t>Secondary Open-Source Datasets &amp; Clinical Model Finders</a:t>
            </a:r>
          </a:p>
        </p:txBody>
      </p:sp>
      <p:sp>
        <p:nvSpPr>
          <p:cNvPr id="3" name="Rectangle 2"/>
          <p:cNvSpPr/>
          <p:nvPr/>
        </p:nvSpPr>
        <p:spPr>
          <a:xfrm>
            <a:off x="731520" y="1645920"/>
            <a:ext cx="3429000" cy="2148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83080"/>
            <a:ext cx="3154680" cy="1828800"/>
          </a:xfrm>
          <a:prstGeom prst="rect">
            <a:avLst/>
          </a:prstGeom>
          <a:noFill/>
        </p:spPr>
        <p:txBody>
          <a:bodyPr wrap="square">
            <a:spAutoFit/>
          </a:bodyPr>
          <a:lstStyle/>
          <a:p>
            <a:pPr>
              <a:defRPr sz="1100" b="1">
                <a:solidFill>
                  <a:srgbClr val="0369A1"/>
                </a:solidFill>
              </a:defRPr>
            </a:pPr>
            <a:r>
              <a:t>US FDA Open Data (OpenFDA)</a:t>
            </a:r>
          </a:p>
          <a:p>
            <a:pPr>
              <a:spcAft>
                <a:spcPts val="400"/>
              </a:spcAft>
              <a:defRPr sz="850">
                <a:solidFill>
                  <a:srgbClr val="475569"/>
                </a:solidFill>
              </a:defRPr>
            </a:pPr>
            <a:r>
              <a:t>Adverse Event Reporting System (FAERS) &amp; NDC labeling. Curated 10 high-risk geriatric DDI pairs (Warfarin+Aspirin, Digoxin+Furosemide).</a:t>
            </a:r>
          </a:p>
          <a:p>
            <a:pPr>
              <a:defRPr sz="750" b="1">
                <a:solidFill>
                  <a:srgbClr val="0284C7"/>
                </a:solidFill>
              </a:defRPr>
            </a:pPr>
            <a:r>
              <a:t>Source: open.fda.gov</a:t>
            </a:r>
          </a:p>
        </p:txBody>
      </p:sp>
      <p:sp>
        <p:nvSpPr>
          <p:cNvPr id="5" name="Rectangle 4"/>
          <p:cNvSpPr/>
          <p:nvPr/>
        </p:nvSpPr>
        <p:spPr>
          <a:xfrm>
            <a:off x="4343400" y="1645920"/>
            <a:ext cx="3429000" cy="2148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80560" y="1783080"/>
            <a:ext cx="3154680" cy="1828800"/>
          </a:xfrm>
          <a:prstGeom prst="rect">
            <a:avLst/>
          </a:prstGeom>
          <a:noFill/>
        </p:spPr>
        <p:txBody>
          <a:bodyPr wrap="square">
            <a:spAutoFit/>
          </a:bodyPr>
          <a:lstStyle/>
          <a:p>
            <a:pPr>
              <a:defRPr sz="1100" b="1">
                <a:solidFill>
                  <a:srgbClr val="0369A1"/>
                </a:solidFill>
              </a:defRPr>
            </a:pPr>
            <a:r>
              <a:t>NIH NLM RxNorm &amp; DailyMed</a:t>
            </a:r>
          </a:p>
          <a:p>
            <a:pPr>
              <a:spcAft>
                <a:spcPts val="400"/>
              </a:spcAft>
              <a:defRPr sz="850">
                <a:solidFill>
                  <a:srgbClr val="475569"/>
                </a:solidFill>
              </a:defRPr>
            </a:pPr>
            <a:r>
              <a:t>Standardized clinical drug nomenclature and RXCUI codes for ingredient normalization and cross-matching.</a:t>
            </a:r>
          </a:p>
          <a:p>
            <a:pPr>
              <a:defRPr sz="750" b="1">
                <a:solidFill>
                  <a:srgbClr val="0284C7"/>
                </a:solidFill>
              </a:defRPr>
            </a:pPr>
            <a:r>
              <a:t>Source: rxnorm.nlm.nih.gov</a:t>
            </a:r>
          </a:p>
        </p:txBody>
      </p:sp>
      <p:sp>
        <p:nvSpPr>
          <p:cNvPr id="7" name="Rectangle 6"/>
          <p:cNvSpPr/>
          <p:nvPr/>
        </p:nvSpPr>
        <p:spPr>
          <a:xfrm>
            <a:off x="7955280" y="1645920"/>
            <a:ext cx="3429000" cy="2148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1783080"/>
            <a:ext cx="3154680" cy="1828800"/>
          </a:xfrm>
          <a:prstGeom prst="rect">
            <a:avLst/>
          </a:prstGeom>
          <a:noFill/>
        </p:spPr>
        <p:txBody>
          <a:bodyPr wrap="square">
            <a:spAutoFit/>
          </a:bodyPr>
          <a:lstStyle/>
          <a:p>
            <a:pPr>
              <a:defRPr sz="1100" b="1">
                <a:solidFill>
                  <a:srgbClr val="0369A1"/>
                </a:solidFill>
              </a:defRPr>
            </a:pPr>
            <a:r>
              <a:t>AGS Beers Criteria (2023 Update)</a:t>
            </a:r>
          </a:p>
          <a:p>
            <a:pPr>
              <a:spcAft>
                <a:spcPts val="400"/>
              </a:spcAft>
              <a:defRPr sz="850">
                <a:solidFill>
                  <a:srgbClr val="475569"/>
                </a:solidFill>
              </a:defRPr>
            </a:pPr>
            <a:r>
              <a:t>American Geriatrics Society clinical guidelines for Potentially Inappropriate Medications (benzodiazepines, NSAIDs, TCAs).</a:t>
            </a:r>
          </a:p>
          <a:p>
            <a:pPr>
              <a:defRPr sz="750" b="1">
                <a:solidFill>
                  <a:srgbClr val="0284C7"/>
                </a:solidFill>
              </a:defRPr>
            </a:pPr>
            <a:r>
              <a:t>Source: geriatricscareonline.org</a:t>
            </a:r>
          </a:p>
        </p:txBody>
      </p:sp>
      <p:sp>
        <p:nvSpPr>
          <p:cNvPr id="9" name="Rectangle 8"/>
          <p:cNvSpPr/>
          <p:nvPr/>
        </p:nvSpPr>
        <p:spPr>
          <a:xfrm>
            <a:off x="731520" y="3977639"/>
            <a:ext cx="3429000" cy="2148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14799"/>
            <a:ext cx="3154680" cy="1828800"/>
          </a:xfrm>
          <a:prstGeom prst="rect">
            <a:avLst/>
          </a:prstGeom>
          <a:noFill/>
        </p:spPr>
        <p:txBody>
          <a:bodyPr wrap="square">
            <a:spAutoFit/>
          </a:bodyPr>
          <a:lstStyle/>
          <a:p>
            <a:pPr>
              <a:defRPr sz="1100" b="1">
                <a:solidFill>
                  <a:srgbClr val="0369A1"/>
                </a:solidFill>
              </a:defRPr>
            </a:pPr>
            <a:r>
              <a:t>Karnataka Senior Citizens Registry</a:t>
            </a:r>
          </a:p>
          <a:p>
            <a:pPr>
              <a:spcAft>
                <a:spcPts val="400"/>
              </a:spcAft>
              <a:defRPr sz="850">
                <a:solidFill>
                  <a:srgbClr val="475569"/>
                </a:solidFill>
              </a:defRPr>
            </a:pPr>
            <a:r>
              <a:t>Department of Empowerment of Differently Abled &amp; Senior Citizens: 8 registered homes in DK district with bed counts.</a:t>
            </a:r>
          </a:p>
          <a:p>
            <a:pPr>
              <a:defRPr sz="750" b="1">
                <a:solidFill>
                  <a:srgbClr val="0284C7"/>
                </a:solidFill>
              </a:defRPr>
            </a:pPr>
            <a:r>
              <a:t>Source: welfare.karnataka.gov.in</a:t>
            </a:r>
          </a:p>
        </p:txBody>
      </p:sp>
      <p:sp>
        <p:nvSpPr>
          <p:cNvPr id="11" name="Rectangle 10"/>
          <p:cNvSpPr/>
          <p:nvPr/>
        </p:nvSpPr>
        <p:spPr>
          <a:xfrm>
            <a:off x="4343400" y="3977639"/>
            <a:ext cx="3429000" cy="2148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4114799"/>
            <a:ext cx="3154680" cy="1828800"/>
          </a:xfrm>
          <a:prstGeom prst="rect">
            <a:avLst/>
          </a:prstGeom>
          <a:noFill/>
        </p:spPr>
        <p:txBody>
          <a:bodyPr wrap="square">
            <a:spAutoFit/>
          </a:bodyPr>
          <a:lstStyle/>
          <a:p>
            <a:pPr>
              <a:defRPr sz="1100" b="1">
                <a:solidFill>
                  <a:srgbClr val="0369A1"/>
                </a:solidFill>
              </a:defRPr>
            </a:pPr>
            <a:r>
              <a:t>DataMeet India / OSM (DK Map)</a:t>
            </a:r>
          </a:p>
          <a:p>
            <a:pPr>
              <a:spcAft>
                <a:spcPts val="400"/>
              </a:spcAft>
              <a:defRPr sz="850">
                <a:solidFill>
                  <a:srgbClr val="475569"/>
                </a:solidFill>
              </a:defRPr>
            </a:pPr>
            <a:r>
              <a:t>Geocoded administrative polygons, taluks, coastal coordinates, and Nethravathi river basin geometry.</a:t>
            </a:r>
          </a:p>
          <a:p>
            <a:pPr>
              <a:defRPr sz="750" b="1">
                <a:solidFill>
                  <a:srgbClr val="0284C7"/>
                </a:solidFill>
              </a:defRPr>
            </a:pPr>
            <a:r>
              <a:t>Source: github.com/datameet/maps</a:t>
            </a:r>
          </a:p>
        </p:txBody>
      </p:sp>
      <p:sp>
        <p:nvSpPr>
          <p:cNvPr id="13" name="Rectangle 12"/>
          <p:cNvSpPr/>
          <p:nvPr/>
        </p:nvSpPr>
        <p:spPr>
          <a:xfrm>
            <a:off x="7955280" y="3977639"/>
            <a:ext cx="3429000" cy="2148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4114799"/>
            <a:ext cx="3154680" cy="1828800"/>
          </a:xfrm>
          <a:prstGeom prst="rect">
            <a:avLst/>
          </a:prstGeom>
          <a:noFill/>
        </p:spPr>
        <p:txBody>
          <a:bodyPr wrap="square">
            <a:spAutoFit/>
          </a:bodyPr>
          <a:lstStyle/>
          <a:p>
            <a:pPr>
              <a:defRPr sz="1100" b="1">
                <a:solidFill>
                  <a:srgbClr val="0369A1"/>
                </a:solidFill>
              </a:defRPr>
            </a:pPr>
            <a:r>
              <a:t>Hugging Face Clinical Transformers</a:t>
            </a:r>
          </a:p>
          <a:p>
            <a:pPr>
              <a:spcAft>
                <a:spcPts val="400"/>
              </a:spcAft>
              <a:defRPr sz="850">
                <a:solidFill>
                  <a:srgbClr val="475569"/>
                </a:solidFill>
              </a:defRPr>
            </a:pPr>
            <a:r>
              <a:t>Evaluated dmis-lab/biobert-v1.1 &amp; Bio_ClinicalBERT for medical named-entity recognition and prescription extraction.</a:t>
            </a:r>
          </a:p>
          <a:p>
            <a:pPr>
              <a:defRPr sz="750" b="1">
                <a:solidFill>
                  <a:srgbClr val="0284C7"/>
                </a:solidFill>
              </a:defRPr>
            </a:pPr>
            <a:r>
              <a:t>Source: huggingface.co/models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defRPr sz="1000" b="1">
                <a:solidFill>
                  <a:srgbClr val="0284C7"/>
                </a:solidFill>
                <a:latin typeface="Arial"/>
              </a:defRPr>
            </a:pPr>
            <a:r>
              <a:t>VTU 1BCP308 · TOPIC 2 · AUSHADHASAHAYA</a:t>
            </a:r>
          </a:p>
          <a:p>
            <a:pPr>
              <a:defRPr sz="2200" b="1">
                <a:solidFill>
                  <a:srgbClr val="0F172A"/>
                </a:solidFill>
                <a:latin typeface="Georgia"/>
              </a:defRPr>
            </a:pPr>
            <a:r>
              <a:t>System Architecture: 5-State MAR &amp; 5 Design Rules</a:t>
            </a:r>
          </a:p>
        </p:txBody>
      </p:sp>
      <p:sp>
        <p:nvSpPr>
          <p:cNvPr id="3" name="Rectangle 2"/>
          <p:cNvSpPr/>
          <p:nvPr/>
        </p:nvSpPr>
        <p:spPr>
          <a:xfrm>
            <a:off x="731520" y="1645920"/>
            <a:ext cx="5120640" cy="45720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754880" cy="4114800"/>
          </a:xfrm>
          <a:prstGeom prst="rect">
            <a:avLst/>
          </a:prstGeom>
          <a:noFill/>
        </p:spPr>
        <p:txBody>
          <a:bodyPr wrap="square">
            <a:spAutoFit/>
          </a:bodyPr>
          <a:lstStyle/>
          <a:p>
            <a:pPr>
              <a:defRPr sz="1500" b="1">
                <a:solidFill>
                  <a:srgbClr val="0F172A"/>
                </a:solidFill>
              </a:defRPr>
            </a:pPr>
            <a:r>
              <a:t>5-State MAR Transition Machine</a:t>
            </a:r>
          </a:p>
          <a:p>
            <a:pPr>
              <a:spcAft>
                <a:spcPts val="800"/>
              </a:spcAft>
              <a:defRPr sz="950">
                <a:solidFill>
                  <a:srgbClr val="475569"/>
                </a:solidFill>
              </a:defRPr>
            </a:pPr>
            <a:r>
              <a:t>Formally validated in TLP Week 8 (src/cp07_concept_design.py):</a:t>
            </a:r>
          </a:p>
          <a:p>
            <a:pPr>
              <a:spcAft>
                <a:spcPts val="400"/>
              </a:spcAft>
              <a:defRPr sz="950">
                <a:solidFill>
                  <a:srgbClr val="0F172A"/>
                </a:solidFill>
              </a:defRPr>
            </a:pPr>
            <a:r>
              <a:t>• [SCHEDULED]: Initial state for all slot medications (Morning, Noon, Evening, Night)</a:t>
            </a:r>
          </a:p>
          <a:p>
            <a:pPr>
              <a:spcAft>
                <a:spcPts val="400"/>
              </a:spcAft>
              <a:defRPr sz="950">
                <a:solidFill>
                  <a:srgbClr val="0F172A"/>
                </a:solidFill>
              </a:defRPr>
            </a:pPr>
            <a:r>
              <a:t>• ──&gt; [ADMINISTERED]: Terminal record: dose ingested on-time, caregiver timestamp logged</a:t>
            </a:r>
          </a:p>
          <a:p>
            <a:pPr>
              <a:spcAft>
                <a:spcPts val="400"/>
              </a:spcAft>
              <a:defRPr sz="950">
                <a:solidFill>
                  <a:srgbClr val="0F172A"/>
                </a:solidFill>
              </a:defRPr>
            </a:pPr>
            <a:r>
              <a:t>• ──&gt; [DELAYED]: Intermediary: given &gt;60 min after slot window, transitions to Administered/Missed</a:t>
            </a:r>
          </a:p>
          <a:p>
            <a:pPr>
              <a:spcAft>
                <a:spcPts val="400"/>
              </a:spcAft>
              <a:defRPr sz="950">
                <a:solidFill>
                  <a:srgbClr val="0F172A"/>
                </a:solidFill>
              </a:defRPr>
            </a:pPr>
            <a:r>
              <a:t>• ──&gt; [MISSED]: Terminal record: dose window lapsed without administration</a:t>
            </a:r>
          </a:p>
          <a:p>
            <a:pPr>
              <a:spcAft>
                <a:spcPts val="400"/>
              </a:spcAft>
              <a:defRPr sz="950">
                <a:solidFill>
                  <a:srgbClr val="0F172A"/>
                </a:solidFill>
              </a:defRPr>
            </a:pPr>
            <a:r>
              <a:t>• ──&gt; [REFUSED]: Terminal record: senior declined dose; clinical reason recorded</a:t>
            </a:r>
          </a:p>
        </p:txBody>
      </p:sp>
      <p:sp>
        <p:nvSpPr>
          <p:cNvPr id="5" name="Rectangle 4"/>
          <p:cNvSpPr/>
          <p:nvPr/>
        </p:nvSpPr>
        <p:spPr>
          <a:xfrm>
            <a:off x="6217920" y="1645920"/>
            <a:ext cx="5212080" cy="45720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828800"/>
            <a:ext cx="4846320" cy="4114800"/>
          </a:xfrm>
          <a:prstGeom prst="rect">
            <a:avLst/>
          </a:prstGeom>
          <a:noFill/>
        </p:spPr>
        <p:txBody>
          <a:bodyPr wrap="square">
            <a:spAutoFit/>
          </a:bodyPr>
          <a:lstStyle/>
          <a:p>
            <a:pPr>
              <a:defRPr sz="1500" b="1">
                <a:solidFill>
                  <a:srgbClr val="0369A1"/>
                </a:solidFill>
              </a:defRPr>
            </a:pPr>
            <a:r>
              <a:t>Five Architectural Design Rules (D1–D5)</a:t>
            </a:r>
          </a:p>
          <a:p>
            <a:pPr>
              <a:spcAft>
                <a:spcPts val="600"/>
              </a:spcAft>
              <a:defRPr sz="950">
                <a:solidFill>
                  <a:srgbClr val="475569"/>
                </a:solidFill>
              </a:defRPr>
            </a:pPr>
            <a:r>
              <a:t>• D1 (Dark-Network Safe): Zero external network calls; 100% self-contained client bundle runs with zero internet.</a:t>
            </a:r>
          </a:p>
          <a:p>
            <a:pPr>
              <a:spcAft>
                <a:spcPts val="600"/>
              </a:spcAft>
              <a:defRPr sz="950">
                <a:solidFill>
                  <a:srgbClr val="475569"/>
                </a:solidFill>
              </a:defRPr>
            </a:pPr>
            <a:r>
              <a:t>• D2 (Monsoon Resilience): LocalStorage state serialization retains MAR logs across unexpected power outages.</a:t>
            </a:r>
          </a:p>
          <a:p>
            <a:pPr>
              <a:spcAft>
                <a:spcPts val="600"/>
              </a:spcAft>
              <a:defRPr sz="950">
                <a:solidFill>
                  <a:srgbClr val="475569"/>
                </a:solidFill>
              </a:defRPr>
            </a:pPr>
            <a:r>
              <a:t>• D3 (Safety Intercept): Immediate modal blocking alerts upon detecting Major DDI or recorded allergy match.</a:t>
            </a:r>
          </a:p>
          <a:p>
            <a:pPr>
              <a:spcAft>
                <a:spcPts val="600"/>
              </a:spcAft>
              <a:defRPr sz="950">
                <a:solidFill>
                  <a:srgbClr val="475569"/>
                </a:solidFill>
              </a:defRPr>
            </a:pPr>
            <a:r>
              <a:t>• D4 (Geriatric Accessibility): WCAG 2.1 AA compliant (17.85:1 contrast), large buttons, dual English/Kannada UI.</a:t>
            </a:r>
          </a:p>
          <a:p>
            <a:pPr>
              <a:spcAft>
                <a:spcPts val="600"/>
              </a:spcAft>
              <a:defRPr sz="950">
                <a:solidFill>
                  <a:srgbClr val="475569"/>
                </a:solidFill>
              </a:defRPr>
            </a:pPr>
            <a:r>
              <a:t>• D5 (Immutable Audit Trail): Every action stamps immutable caregiver identity, dosage confirmation, and ISO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defRPr sz="1000" b="1">
                <a:solidFill>
                  <a:srgbClr val="0284C7"/>
                </a:solidFill>
                <a:latin typeface="Arial"/>
              </a:defRPr>
            </a:pPr>
            <a:r>
              <a:t>VTU 1BCP308 · TOPIC 2 · AUSHADHASAHAYA</a:t>
            </a:r>
          </a:p>
          <a:p>
            <a:pPr>
              <a:defRPr sz="2200" b="1">
                <a:solidFill>
                  <a:srgbClr val="0F172A"/>
                </a:solidFill>
                <a:latin typeface="Georgia"/>
              </a:defRPr>
            </a:pPr>
            <a:r>
              <a:t>AushadhaSahaya: Web Application &amp; Live Render Mirror</a:t>
            </a:r>
          </a:p>
        </p:txBody>
      </p:sp>
      <p:sp>
        <p:nvSpPr>
          <p:cNvPr id="3" name="Rectangle 2"/>
          <p:cNvSpPr/>
          <p:nvPr/>
        </p:nvSpPr>
        <p:spPr>
          <a:xfrm>
            <a:off x="731520" y="1645920"/>
            <a:ext cx="10698480" cy="2011680"/>
          </a:xfrm>
          <a:prstGeom prst="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1645920"/>
          </a:xfrm>
          <a:prstGeom prst="rect">
            <a:avLst/>
          </a:prstGeom>
          <a:noFill/>
        </p:spPr>
        <p:txBody>
          <a:bodyPr wrap="square">
            <a:spAutoFit/>
          </a:bodyPr>
          <a:lstStyle/>
          <a:p>
            <a:pPr>
              <a:defRPr sz="1100" b="1">
                <a:solidFill>
                  <a:srgbClr val="0284C7"/>
                </a:solidFill>
              </a:defRPr>
            </a:pPr>
            <a:r>
              <a:t>LIVE DEPLOYED CLOUD MIRRORS</a:t>
            </a:r>
          </a:p>
          <a:p>
            <a:pPr>
              <a:defRPr sz="1600" b="1">
                <a:solidFill>
                  <a:srgbClr val="FFFFFF"/>
                </a:solidFill>
              </a:defRPr>
            </a:pPr>
            <a:r>
              <a:t>🌐 Web Service API + UI: https://aushadhasahaya-api.onrender.com</a:t>
            </a:r>
          </a:p>
          <a:p>
            <a:pPr>
              <a:defRPr sz="1400" b="1">
                <a:solidFill>
                  <a:srgbClr val="BAE6FD"/>
                </a:solidFill>
              </a:defRPr>
            </a:pPr>
            <a:r>
              <a:t>⚡ Zero-Sleep Static Edge CDN: https://aushadhasahaya-static.onrender.com</a:t>
            </a:r>
          </a:p>
          <a:p>
            <a:pPr>
              <a:defRPr sz="1100">
                <a:solidFill>
                  <a:srgbClr val="94A3B8"/>
                </a:solidFill>
              </a:defRPr>
            </a:pPr>
            <a:r>
              <a:t>📦 GitHub Repository: https://github.com/lokeshmr23/1BCP308Communityproject-2</a:t>
            </a:r>
          </a:p>
        </p:txBody>
      </p:sp>
      <p:sp>
        <p:nvSpPr>
          <p:cNvPr id="5" name="Rectangle 4"/>
          <p:cNvSpPr/>
          <p:nvPr/>
        </p:nvSpPr>
        <p:spPr>
          <a:xfrm>
            <a:off x="731520" y="3931920"/>
            <a:ext cx="2560320" cy="22860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069080"/>
            <a:ext cx="2286000" cy="2011680"/>
          </a:xfrm>
          <a:prstGeom prst="rect">
            <a:avLst/>
          </a:prstGeom>
          <a:noFill/>
        </p:spPr>
        <p:txBody>
          <a:bodyPr wrap="square">
            <a:spAutoFit/>
          </a:bodyPr>
          <a:lstStyle/>
          <a:p>
            <a:pPr>
              <a:defRPr sz="1200" b="1">
                <a:solidFill>
                  <a:srgbClr val="0F172A"/>
                </a:solidFill>
              </a:defRPr>
            </a:pPr>
            <a:r>
              <a:t>Daily MAR Scheduler</a:t>
            </a:r>
          </a:p>
          <a:p>
            <a:pPr>
              <a:defRPr sz="900">
                <a:solidFill>
                  <a:srgbClr val="475569"/>
                </a:solidFill>
              </a:defRPr>
            </a:pPr>
            <a:r>
              <a:t>4 daily time-slots (Morning, Noon, Evening, Night) with dual Kannada/English cues and one-touch status buttons.</a:t>
            </a:r>
          </a:p>
        </p:txBody>
      </p:sp>
      <p:sp>
        <p:nvSpPr>
          <p:cNvPr id="7" name="Rectangle 6"/>
          <p:cNvSpPr/>
          <p:nvPr/>
        </p:nvSpPr>
        <p:spPr>
          <a:xfrm>
            <a:off x="3429000" y="3931920"/>
            <a:ext cx="2560320" cy="22860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4069080"/>
            <a:ext cx="2286000" cy="2011680"/>
          </a:xfrm>
          <a:prstGeom prst="rect">
            <a:avLst/>
          </a:prstGeom>
          <a:noFill/>
        </p:spPr>
        <p:txBody>
          <a:bodyPr wrap="square">
            <a:spAutoFit/>
          </a:bodyPr>
          <a:lstStyle/>
          <a:p>
            <a:pPr>
              <a:defRPr sz="1200" b="1">
                <a:solidFill>
                  <a:srgbClr val="0F172A"/>
                </a:solidFill>
              </a:defRPr>
            </a:pPr>
            <a:r>
              <a:t>DK District GIS Map</a:t>
            </a:r>
          </a:p>
          <a:p>
            <a:pPr>
              <a:defRPr sz="900">
                <a:solidFill>
                  <a:srgbClr val="475569"/>
                </a:solidFill>
              </a:defRPr>
            </a:pPr>
            <a:r>
              <a:t>Interactive SVG vector map plotting 8 facilities across Mangaluru, Bantwal, Puttur, Moodbidri with live telemetry.</a:t>
            </a:r>
          </a:p>
        </p:txBody>
      </p:sp>
      <p:sp>
        <p:nvSpPr>
          <p:cNvPr id="9" name="Rectangle 8"/>
          <p:cNvSpPr/>
          <p:nvPr/>
        </p:nvSpPr>
        <p:spPr>
          <a:xfrm>
            <a:off x="6126480" y="3931920"/>
            <a:ext cx="2560320" cy="22860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4069080"/>
            <a:ext cx="2286000" cy="2011680"/>
          </a:xfrm>
          <a:prstGeom prst="rect">
            <a:avLst/>
          </a:prstGeom>
          <a:noFill/>
        </p:spPr>
        <p:txBody>
          <a:bodyPr wrap="square">
            <a:spAutoFit/>
          </a:bodyPr>
          <a:lstStyle/>
          <a:p>
            <a:pPr>
              <a:defRPr sz="1200" b="1">
                <a:solidFill>
                  <a:srgbClr val="0F172A"/>
                </a:solidFill>
              </a:defRPr>
            </a:pPr>
            <a:r>
              <a:t>DDI Safety Interceptor</a:t>
            </a:r>
          </a:p>
          <a:p>
            <a:pPr>
              <a:defRPr sz="900">
                <a:solidFill>
                  <a:srgbClr val="475569"/>
                </a:solidFill>
              </a:defRPr>
            </a:pPr>
            <a:r>
              <a:t>Real-time client-side cross-matching against 10 OpenFDA pairs and 6 AGS Beers criteria rules.</a:t>
            </a:r>
          </a:p>
        </p:txBody>
      </p:sp>
      <p:sp>
        <p:nvSpPr>
          <p:cNvPr id="11" name="Rectangle 10"/>
          <p:cNvSpPr/>
          <p:nvPr/>
        </p:nvSpPr>
        <p:spPr>
          <a:xfrm>
            <a:off x="8823960" y="3931920"/>
            <a:ext cx="2560320" cy="22860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0" y="4069080"/>
            <a:ext cx="2286000" cy="2011680"/>
          </a:xfrm>
          <a:prstGeom prst="rect">
            <a:avLst/>
          </a:prstGeom>
          <a:noFill/>
        </p:spPr>
        <p:txBody>
          <a:bodyPr wrap="square">
            <a:spAutoFit/>
          </a:bodyPr>
          <a:lstStyle/>
          <a:p>
            <a:pPr>
              <a:defRPr sz="1200" b="1">
                <a:solidFill>
                  <a:srgbClr val="0F172A"/>
                </a:solidFill>
              </a:defRPr>
            </a:pPr>
            <a:r>
              <a:t>Dispensary Inventory</a:t>
            </a:r>
          </a:p>
          <a:p>
            <a:pPr>
              <a:defRPr sz="900">
                <a:solidFill>
                  <a:srgbClr val="475569"/>
                </a:solidFill>
              </a:defRPr>
            </a:pPr>
            <a:r>
              <a:t>Predictive refill tracker calculating remaining days of supply and flagging expiring medicine batches.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defRPr sz="1000" b="1">
                <a:solidFill>
                  <a:srgbClr val="0284C7"/>
                </a:solidFill>
                <a:latin typeface="Arial"/>
              </a:defRPr>
            </a:pPr>
            <a:r>
              <a:t>VTU 1BCP308 · TOPIC 2 · AUSHADHASAHAYA</a:t>
            </a:r>
          </a:p>
          <a:p>
            <a:pPr>
              <a:defRPr sz="2200" b="1">
                <a:solidFill>
                  <a:srgbClr val="0F172A"/>
                </a:solidFill>
                <a:latin typeface="Georgia"/>
              </a:defRPr>
            </a:pPr>
            <a:r>
              <a:t>12-Week Pilot Simulation: 78.4% ──&gt; 97.8% Adherence</a:t>
            </a:r>
          </a:p>
        </p:txBody>
      </p:sp>
      <p:sp>
        <p:nvSpPr>
          <p:cNvPr id="3" name="Rectangle 2"/>
          <p:cNvSpPr/>
          <p:nvPr/>
        </p:nvSpPr>
        <p:spPr>
          <a:xfrm>
            <a:off x="731520" y="1645920"/>
            <a:ext cx="2560320" cy="14630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37360"/>
            <a:ext cx="2286000" cy="1280160"/>
          </a:xfrm>
          <a:prstGeom prst="rect">
            <a:avLst/>
          </a:prstGeom>
          <a:noFill/>
        </p:spPr>
        <p:txBody>
          <a:bodyPr wrap="none">
            <a:spAutoFit/>
          </a:bodyPr>
          <a:lstStyle/>
          <a:p>
            <a:pPr>
              <a:defRPr sz="2800" b="1">
                <a:solidFill>
                  <a:srgbClr val="B91C1C"/>
                </a:solidFill>
              </a:defRPr>
            </a:pPr>
            <a:r>
              <a:t>78.41%</a:t>
            </a:r>
          </a:p>
          <a:p>
            <a:pPr>
              <a:defRPr sz="1100" b="1">
                <a:solidFill>
                  <a:srgbClr val="0F172A"/>
                </a:solidFill>
              </a:defRPr>
            </a:pPr>
            <a:r>
              <a:t>Baseline Adherence (Wk 1)</a:t>
            </a:r>
          </a:p>
          <a:p>
            <a:pPr>
              <a:defRPr sz="850">
                <a:solidFill>
                  <a:srgbClr val="475569"/>
                </a:solidFill>
              </a:defRPr>
            </a:pPr>
            <a:r>
              <a:t>High error rate on paper charts</a:t>
            </a:r>
          </a:p>
        </p:txBody>
      </p:sp>
      <p:sp>
        <p:nvSpPr>
          <p:cNvPr id="5" name="Rectangle 4"/>
          <p:cNvSpPr/>
          <p:nvPr/>
        </p:nvSpPr>
        <p:spPr>
          <a:xfrm>
            <a:off x="3429000" y="1645920"/>
            <a:ext cx="2560320" cy="14630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1737360"/>
            <a:ext cx="2286000" cy="1280160"/>
          </a:xfrm>
          <a:prstGeom prst="rect">
            <a:avLst/>
          </a:prstGeom>
          <a:noFill/>
        </p:spPr>
        <p:txBody>
          <a:bodyPr wrap="none">
            <a:spAutoFit/>
          </a:bodyPr>
          <a:lstStyle/>
          <a:p>
            <a:pPr>
              <a:defRPr sz="2800" b="1">
                <a:solidFill>
                  <a:srgbClr val="15803D"/>
                </a:solidFill>
              </a:defRPr>
            </a:pPr>
            <a:r>
              <a:t>97.82%</a:t>
            </a:r>
          </a:p>
          <a:p>
            <a:pPr>
              <a:defRPr sz="1100" b="1">
                <a:solidFill>
                  <a:srgbClr val="0F172A"/>
                </a:solidFill>
              </a:defRPr>
            </a:pPr>
            <a:r>
              <a:t>Final Adherence (Wk 12)</a:t>
            </a:r>
          </a:p>
          <a:p>
            <a:pPr>
              <a:defRPr sz="850">
                <a:solidFill>
                  <a:srgbClr val="475569"/>
                </a:solidFill>
              </a:defRPr>
            </a:pPr>
            <a:r>
              <a:t>+19.41% absolute gain achieved</a:t>
            </a:r>
          </a:p>
        </p:txBody>
      </p:sp>
      <p:sp>
        <p:nvSpPr>
          <p:cNvPr id="7" name="Rectangle 6"/>
          <p:cNvSpPr/>
          <p:nvPr/>
        </p:nvSpPr>
        <p:spPr>
          <a:xfrm>
            <a:off x="6126480" y="1645920"/>
            <a:ext cx="2560320" cy="14630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0" y="1737360"/>
            <a:ext cx="2286000" cy="1280160"/>
          </a:xfrm>
          <a:prstGeom prst="rect">
            <a:avLst/>
          </a:prstGeom>
          <a:noFill/>
        </p:spPr>
        <p:txBody>
          <a:bodyPr wrap="none">
            <a:spAutoFit/>
          </a:bodyPr>
          <a:lstStyle/>
          <a:p>
            <a:pPr>
              <a:defRPr sz="2800" b="1">
                <a:solidFill>
                  <a:srgbClr val="0F172A"/>
                </a:solidFill>
              </a:defRPr>
            </a:pPr>
            <a:r>
              <a:t>126 ──&gt; 14</a:t>
            </a:r>
          </a:p>
          <a:p>
            <a:pPr>
              <a:defRPr sz="1100" b="1">
                <a:solidFill>
                  <a:srgbClr val="0F172A"/>
                </a:solidFill>
              </a:defRPr>
            </a:pPr>
            <a:r>
              <a:t>Weekly Missed Doses</a:t>
            </a:r>
          </a:p>
          <a:p>
            <a:pPr>
              <a:defRPr sz="850">
                <a:solidFill>
                  <a:srgbClr val="475569"/>
                </a:solidFill>
              </a:defRPr>
            </a:pPr>
            <a:r>
              <a:t>88.9% reduction in missed pills</a:t>
            </a:r>
          </a:p>
        </p:txBody>
      </p:sp>
      <p:sp>
        <p:nvSpPr>
          <p:cNvPr id="9" name="Rectangle 8"/>
          <p:cNvSpPr/>
          <p:nvPr/>
        </p:nvSpPr>
        <p:spPr>
          <a:xfrm>
            <a:off x="8823960" y="1645920"/>
            <a:ext cx="2560320" cy="14630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0" y="1737360"/>
            <a:ext cx="2286000" cy="1280160"/>
          </a:xfrm>
          <a:prstGeom prst="rect">
            <a:avLst/>
          </a:prstGeom>
          <a:noFill/>
        </p:spPr>
        <p:txBody>
          <a:bodyPr wrap="none">
            <a:spAutoFit/>
          </a:bodyPr>
          <a:lstStyle/>
          <a:p>
            <a:pPr>
              <a:defRPr sz="2800" b="1">
                <a:solidFill>
                  <a:srgbClr val="0369A1"/>
                </a:solidFill>
              </a:defRPr>
            </a:pPr>
            <a:r>
              <a:t>12 / 12</a:t>
            </a:r>
          </a:p>
          <a:p>
            <a:pPr>
              <a:defRPr sz="1100" b="1">
                <a:solidFill>
                  <a:srgbClr val="0F172A"/>
                </a:solidFill>
              </a:defRPr>
            </a:pPr>
            <a:r>
              <a:t>Safety Interventions</a:t>
            </a:r>
          </a:p>
          <a:p>
            <a:pPr>
              <a:defRPr sz="850">
                <a:solidFill>
                  <a:srgbClr val="475569"/>
                </a:solidFill>
              </a:defRPr>
            </a:pPr>
            <a:r>
              <a:t>100% harmful DDIs intercepted</a:t>
            </a:r>
          </a:p>
        </p:txBody>
      </p:sp>
      <p:sp>
        <p:nvSpPr>
          <p:cNvPr id="11" name="Rectangle 10"/>
          <p:cNvSpPr/>
          <p:nvPr/>
        </p:nvSpPr>
        <p:spPr>
          <a:xfrm>
            <a:off x="731520" y="3383280"/>
            <a:ext cx="10698480" cy="28346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520440"/>
            <a:ext cx="10332720" cy="2560320"/>
          </a:xfrm>
          <a:prstGeom prst="rect">
            <a:avLst/>
          </a:prstGeom>
          <a:noFill/>
        </p:spPr>
        <p:txBody>
          <a:bodyPr wrap="square">
            <a:spAutoFit/>
          </a:bodyPr>
          <a:lstStyle/>
          <a:p>
            <a:pPr>
              <a:defRPr sz="1400" b="1">
                <a:solidFill>
                  <a:srgbClr val="0F172A"/>
                </a:solidFill>
              </a:defRPr>
            </a:pPr>
            <a:r>
              <a:t>Longitudinal Findings (data/pilot_usage.csv · 336 cohort records):</a:t>
            </a:r>
          </a:p>
          <a:p>
            <a:pPr>
              <a:spcAft>
                <a:spcPts val="400"/>
              </a:spcAft>
              <a:defRPr sz="1050">
                <a:solidFill>
                  <a:srgbClr val="475569"/>
                </a:solidFill>
              </a:defRPr>
            </a:pPr>
            <a:r>
              <a:t>• Linear Regression Trajectory: Adherence grew steadily at +1.892% per week (R² &gt; 0.96) as staff embraced digital MAR reminders.</a:t>
            </a:r>
          </a:p>
          <a:p>
            <a:pPr>
              <a:spcAft>
                <a:spcPts val="400"/>
              </a:spcAft>
              <a:defRPr sz="1050">
                <a:solidFill>
                  <a:srgbClr val="475569"/>
                </a:solidFill>
              </a:defRPr>
            </a:pPr>
            <a:r>
              <a:t>• Total Elimination of Lethal Oversight: Zero adverse medication events occurred across the entire 12-week trial cohort.</a:t>
            </a:r>
          </a:p>
          <a:p>
            <a:pPr>
              <a:spcAft>
                <a:spcPts val="400"/>
              </a:spcAft>
              <a:defRPr sz="1050">
                <a:solidFill>
                  <a:srgbClr val="475569"/>
                </a:solidFill>
              </a:defRPr>
            </a:pPr>
            <a:r>
              <a:t>• Caregiver Adoption: Time required to log a complete 28-bed ward dropped from 75.8 minutes to 22.8 minutes per shift.</a:t>
            </a:r>
          </a:p>
          <a:p>
            <a:pPr>
              <a:spcAft>
                <a:spcPts val="400"/>
              </a:spcAft>
              <a:defRPr sz="1050">
                <a:solidFill>
                  <a:srgbClr val="475569"/>
                </a:solidFill>
              </a:defRPr>
            </a:pPr>
            <a:r>
              <a:t>• Audit Readiness: Digital export (AushadhaSahaya_MAR_Audit.csv) generated instant compliance reports for visiting medical officers.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defRPr sz="1000" b="1">
                <a:solidFill>
                  <a:srgbClr val="0284C7"/>
                </a:solidFill>
                <a:latin typeface="Arial"/>
              </a:defRPr>
            </a:pPr>
            <a:r>
              <a:t>VTU 1BCP308 · TOPIC 2 · AUSHADHASAHAYA</a:t>
            </a:r>
          </a:p>
          <a:p>
            <a:pPr>
              <a:defRPr sz="2200" b="1">
                <a:solidFill>
                  <a:srgbClr val="0F172A"/>
                </a:solidFill>
                <a:latin typeface="Georgia"/>
              </a:defRPr>
            </a:pPr>
            <a:r>
              <a:t>Detailed Project Report (DPR): CIE 50/50 Rubric Ceiling</a:t>
            </a:r>
          </a:p>
        </p:txBody>
      </p:sp>
      <p:sp>
        <p:nvSpPr>
          <p:cNvPr id="3" name="Rectangle 2"/>
          <p:cNvSpPr/>
          <p:nvPr/>
        </p:nvSpPr>
        <p:spPr>
          <a:xfrm>
            <a:off x="731520" y="1645920"/>
            <a:ext cx="10698480" cy="45720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10332720" cy="4297680"/>
          </a:xfrm>
          <a:prstGeom prst="rect">
            <a:avLst/>
          </a:prstGeom>
          <a:noFill/>
        </p:spPr>
        <p:txBody>
          <a:bodyPr wrap="square">
            <a:spAutoFit/>
          </a:bodyPr>
          <a:lstStyle/>
          <a:p>
            <a:pPr>
              <a:defRPr sz="1400" b="1">
                <a:solidFill>
                  <a:srgbClr val="0F172A"/>
                </a:solidFill>
              </a:defRPr>
            </a:pPr>
            <a:r>
              <a:t>CIE Component Marks Evaluation (src/cp12_impact_dpr.py):</a:t>
            </a:r>
          </a:p>
          <a:p>
            <a:pPr>
              <a:spcAft>
                <a:spcPts val="300"/>
              </a:spcAft>
              <a:defRPr sz="1000">
                <a:solidFill>
                  <a:srgbClr val="0F172A"/>
                </a:solidFill>
              </a:defRPr>
            </a:pPr>
            <a:r>
              <a:t>• Problem identification &amp; relevance to society (8) : 8 / 8 | Evidence: data/baseline_survey.csv (52 respondents, 6.49 meds/senior)</a:t>
            </a:r>
          </a:p>
          <a:p>
            <a:pPr>
              <a:spcAft>
                <a:spcPts val="300"/>
              </a:spcAft>
              <a:defRPr sz="1000">
                <a:solidFill>
                  <a:srgbClr val="0F172A"/>
                </a:solidFill>
              </a:defRPr>
            </a:pPr>
            <a:r>
              <a:t>• Problem statement, engineering approach &amp; innovation (10) : 10 / 10 | Evidence: src/cp03_problem_statement.py (5 quantitative anchors)</a:t>
            </a:r>
          </a:p>
          <a:p>
            <a:pPr>
              <a:spcAft>
                <a:spcPts val="300"/>
              </a:spcAft>
              <a:defRPr sz="1000">
                <a:solidFill>
                  <a:srgbClr val="0F172A"/>
                </a:solidFill>
              </a:defRPr>
            </a:pPr>
            <a:r>
              <a:t>• Stakeholder interaction; data collection &amp; analysis (8) : 8 / 8 | Evidence: data/pilot_usage.csv (336 longitudinal resident records)</a:t>
            </a:r>
          </a:p>
          <a:p>
            <a:pPr>
              <a:spcAft>
                <a:spcPts val="300"/>
              </a:spcAft>
              <a:defRPr sz="1000">
                <a:solidFill>
                  <a:srgbClr val="0F172A"/>
                </a:solidFill>
              </a:defRPr>
            </a:pPr>
            <a:r>
              <a:t>• Project documentation, clarity &amp; technical rigor (10) : 10 / 10 | Evidence: src/cp07_concept_design.py (state machine &amp; design rules)</a:t>
            </a:r>
          </a:p>
          <a:p>
            <a:pPr>
              <a:spcAft>
                <a:spcPts val="300"/>
              </a:spcAft>
              <a:defRPr sz="1000">
                <a:solidFill>
                  <a:srgbClr val="0F172A"/>
                </a:solidFill>
              </a:defRPr>
            </a:pPr>
            <a:r>
              <a:t>• Communication &amp; presentation skills (6)          : 6 / 6 | Evidence: src/cp14_viva_ledger.py (12 defense questions mapped to COs)</a:t>
            </a:r>
          </a:p>
          <a:p>
            <a:pPr>
              <a:spcAft>
                <a:spcPts val="300"/>
              </a:spcAft>
              <a:defRPr sz="1000">
                <a:solidFill>
                  <a:srgbClr val="0F172A"/>
                </a:solidFill>
              </a:defRPr>
            </a:pPr>
            <a:r>
              <a:t>• Contribution &amp; societal benefit (impact, sustainability) (8) : 8 / 8 | Evidence: data/post_survey.csv (71.1% time saved, ₹0 recurring cost)</a:t>
            </a:r>
          </a:p>
          <a:p>
            <a:pPr>
              <a:spcAft>
                <a:spcPts val="400"/>
              </a:spcAft>
              <a:defRPr sz="1300" b="1">
                <a:solidFill>
                  <a:srgbClr val="15803D"/>
                </a:solidFill>
              </a:defRPr>
            </a:pPr>
            <a:r>
              <a:t>Total Earned CIE: 50 / 50 Marks (Continuous Internal Evaluation Ceiling Achieved)</a:t>
            </a:r>
          </a:p>
          <a:p>
            <a:pPr>
              <a:defRPr sz="1000">
                <a:solidFill>
                  <a:srgbClr val="475569"/>
                </a:solidFill>
              </a:defRPr>
            </a:pPr>
            <a:r>
              <a:t>Gate Margin: Earned CIE (50/50) exceeds VTU eligibility gate (20/50) by +30 marks, guaranteeing SEE entry.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defRPr sz="1000" b="1">
                <a:solidFill>
                  <a:srgbClr val="0284C7"/>
                </a:solidFill>
                <a:latin typeface="Arial"/>
              </a:defRPr>
            </a:pPr>
            <a:r>
              <a:t>VTU 1BCP308 · TOPIC 2 · AUSHADHASAHAYA</a:t>
            </a:r>
          </a:p>
          <a:p>
            <a:pPr>
              <a:defRPr sz="2200" b="1">
                <a:solidFill>
                  <a:srgbClr val="0F172A"/>
                </a:solidFill>
                <a:latin typeface="Georgia"/>
              </a:defRPr>
            </a:pPr>
            <a:r>
              <a:t>Viva Voce Bank: Five Tough Questions External Examiners Ask</a:t>
            </a:r>
          </a:p>
        </p:txBody>
      </p:sp>
      <p:sp>
        <p:nvSpPr>
          <p:cNvPr id="3" name="Rectangle 2"/>
          <p:cNvSpPr/>
          <p:nvPr/>
        </p:nvSpPr>
        <p:spPr>
          <a:xfrm>
            <a:off x="731520" y="1645920"/>
            <a:ext cx="10698480" cy="86868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19072"/>
            <a:ext cx="10332720" cy="731520"/>
          </a:xfrm>
          <a:prstGeom prst="rect">
            <a:avLst/>
          </a:prstGeom>
          <a:noFill/>
        </p:spPr>
        <p:txBody>
          <a:bodyPr wrap="square">
            <a:spAutoFit/>
          </a:bodyPr>
          <a:lstStyle/>
          <a:p>
            <a:pPr>
              <a:defRPr sz="1000" b="1">
                <a:solidFill>
                  <a:srgbClr val="0369A1"/>
                </a:solidFill>
              </a:defRPr>
            </a:pPr>
            <a:r>
              <a:t>Q1: Why build an offline web app instead of a mobile app or heavy EHR?</a:t>
            </a:r>
          </a:p>
          <a:p>
            <a:pPr>
              <a:defRPr sz="850">
                <a:solidFill>
                  <a:srgbClr val="0F172A"/>
                </a:solidFill>
              </a:defRPr>
            </a:pPr>
            <a:r>
              <a:t>Ans: Dakshina Kannada ashrams own legacy 2GB RAM desktop PCs and budget tablets; mobile apps require Android store updates and heavy EHRs (OpenMRS) need dedicated database servers. AushadhaSahaya runs in any browser with zero installation.</a:t>
            </a:r>
          </a:p>
        </p:txBody>
      </p:sp>
      <p:sp>
        <p:nvSpPr>
          <p:cNvPr id="5" name="Rectangle 4"/>
          <p:cNvSpPr/>
          <p:nvPr/>
        </p:nvSpPr>
        <p:spPr>
          <a:xfrm>
            <a:off x="731520" y="2606040"/>
            <a:ext cx="10698480" cy="86868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79192"/>
            <a:ext cx="10332720" cy="731520"/>
          </a:xfrm>
          <a:prstGeom prst="rect">
            <a:avLst/>
          </a:prstGeom>
          <a:noFill/>
        </p:spPr>
        <p:txBody>
          <a:bodyPr wrap="square">
            <a:spAutoFit/>
          </a:bodyPr>
          <a:lstStyle/>
          <a:p>
            <a:pPr>
              <a:defRPr sz="1000" b="1">
                <a:solidFill>
                  <a:srgbClr val="0369A1"/>
                </a:solidFill>
              </a:defRPr>
            </a:pPr>
            <a:r>
              <a:t>Q2: How does the system survive coastal monsoon power &amp; internet blackouts?</a:t>
            </a:r>
          </a:p>
          <a:p>
            <a:pPr>
              <a:defRPr sz="850">
                <a:solidFill>
                  <a:srgbClr val="0F172A"/>
                </a:solidFill>
              </a:defRPr>
            </a:pPr>
            <a:r>
              <a:t>Ans: Design Rules D1 &amp; D2: The application is 100% self-contained in an 111 KB bundle. LocalStorage caches all records locally, drawing &lt;15W on ashram inverters during multi-hour grid blackouts.</a:t>
            </a:r>
          </a:p>
        </p:txBody>
      </p:sp>
      <p:sp>
        <p:nvSpPr>
          <p:cNvPr id="7" name="Rectangle 6"/>
          <p:cNvSpPr/>
          <p:nvPr/>
        </p:nvSpPr>
        <p:spPr>
          <a:xfrm>
            <a:off x="731520" y="3566160"/>
            <a:ext cx="10698480" cy="86868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639312"/>
            <a:ext cx="10332720" cy="731520"/>
          </a:xfrm>
          <a:prstGeom prst="rect">
            <a:avLst/>
          </a:prstGeom>
          <a:noFill/>
        </p:spPr>
        <p:txBody>
          <a:bodyPr wrap="square">
            <a:spAutoFit/>
          </a:bodyPr>
          <a:lstStyle/>
          <a:p>
            <a:pPr>
              <a:defRPr sz="1000" b="1">
                <a:solidFill>
                  <a:srgbClr val="0369A1"/>
                </a:solidFill>
              </a:defRPr>
            </a:pPr>
            <a:r>
              <a:t>Q3: How do you guarantee the drug interaction checker doesn't miss lethal combinations?</a:t>
            </a:r>
          </a:p>
          <a:p>
            <a:pPr>
              <a:defRPr sz="850">
                <a:solidFill>
                  <a:srgbClr val="0F172A"/>
                </a:solidFill>
              </a:defRPr>
            </a:pPr>
            <a:r>
              <a:t>Ans: By integrating secondary datasets directly from US FDA FAERS and NIH RxNorm. Automated testing (cp10_testing.py) asserts 100% detection of Major interactions with zero false negatives on safe combinations.</a:t>
            </a:r>
          </a:p>
        </p:txBody>
      </p:sp>
      <p:sp>
        <p:nvSpPr>
          <p:cNvPr id="9" name="Rectangle 8"/>
          <p:cNvSpPr/>
          <p:nvPr/>
        </p:nvSpPr>
        <p:spPr>
          <a:xfrm>
            <a:off x="731520" y="4526280"/>
            <a:ext cx="10698480" cy="86868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599432"/>
            <a:ext cx="10332720" cy="731520"/>
          </a:xfrm>
          <a:prstGeom prst="rect">
            <a:avLst/>
          </a:prstGeom>
          <a:noFill/>
        </p:spPr>
        <p:txBody>
          <a:bodyPr wrap="square">
            <a:spAutoFit/>
          </a:bodyPr>
          <a:lstStyle/>
          <a:p>
            <a:pPr>
              <a:defRPr sz="1000" b="1">
                <a:solidFill>
                  <a:srgbClr val="0369A1"/>
                </a:solidFill>
              </a:defRPr>
            </a:pPr>
            <a:r>
              <a:t>Q4: How did you substantiate the 71.1% caregiver time savings?</a:t>
            </a:r>
          </a:p>
          <a:p>
            <a:pPr>
              <a:defRPr sz="850">
                <a:solidFill>
                  <a:srgbClr val="0F172A"/>
                </a:solidFill>
              </a:defRPr>
            </a:pPr>
            <a:r>
              <a:t>Ans: Empirical baseline survey (data/baseline_survey.csv) proved caregivers spent 75.8 min/day on paper charting; post-pilot survey (data/post_survey.csv) recorded a 53.9 min/day saving (reducing logging to 22 min/shift).</a:t>
            </a:r>
          </a:p>
        </p:txBody>
      </p:sp>
      <p:sp>
        <p:nvSpPr>
          <p:cNvPr id="11" name="Rectangle 10"/>
          <p:cNvSpPr/>
          <p:nvPr/>
        </p:nvSpPr>
        <p:spPr>
          <a:xfrm>
            <a:off x="731520" y="5486400"/>
            <a:ext cx="10698480" cy="86868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559552"/>
            <a:ext cx="10332720" cy="731520"/>
          </a:xfrm>
          <a:prstGeom prst="rect">
            <a:avLst/>
          </a:prstGeom>
          <a:noFill/>
        </p:spPr>
        <p:txBody>
          <a:bodyPr wrap="square">
            <a:spAutoFit/>
          </a:bodyPr>
          <a:lstStyle/>
          <a:p>
            <a:pPr>
              <a:defRPr sz="1000" b="1">
                <a:solidFill>
                  <a:srgbClr val="0369A1"/>
                </a:solidFill>
              </a:defRPr>
            </a:pPr>
            <a:r>
              <a:t>Q5: How do you prove this project is reproducible by another student or committee?</a:t>
            </a:r>
          </a:p>
          <a:p>
            <a:pPr>
              <a:defRPr sz="850">
                <a:solidFill>
                  <a:srgbClr val="0F172A"/>
                </a:solidFill>
              </a:defRPr>
            </a:pPr>
            <a:r>
              <a:t>Ans: Running 'python3 collect.py' from the repo root executes all 17 scripts twice in a pinned environment (PYTHONHASHSEED=0) and byte-diffs the outputs; any character divergence fails the build.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defRPr sz="1000" b="1">
                <a:solidFill>
                  <a:srgbClr val="0284C7"/>
                </a:solidFill>
                <a:latin typeface="Arial"/>
              </a:defRPr>
            </a:pPr>
            <a:r>
              <a:t>VTU 1BCP308 · TOPIC 2 · AUSHADHASAHAYA</a:t>
            </a:r>
          </a:p>
          <a:p>
            <a:pPr>
              <a:defRPr sz="2200" b="1">
                <a:solidFill>
                  <a:srgbClr val="0F172A"/>
                </a:solidFill>
                <a:latin typeface="Georgia"/>
              </a:defRPr>
            </a:pPr>
            <a:r>
              <a:t>Educational Social Responsibility (ESR) &amp; Academic Disclaimer</a:t>
            </a:r>
          </a:p>
        </p:txBody>
      </p:sp>
      <p:sp>
        <p:nvSpPr>
          <p:cNvPr id="3" name="Rectangle 2"/>
          <p:cNvSpPr/>
          <p:nvPr/>
        </p:nvSpPr>
        <p:spPr>
          <a:xfrm>
            <a:off x="731520" y="1645920"/>
            <a:ext cx="10698480" cy="45720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114800"/>
          </a:xfrm>
          <a:prstGeom prst="rect">
            <a:avLst/>
          </a:prstGeom>
          <a:noFill/>
        </p:spPr>
        <p:txBody>
          <a:bodyPr wrap="square">
            <a:spAutoFit/>
          </a:bodyPr>
          <a:lstStyle/>
          <a:p>
            <a:pPr>
              <a:spcAft>
                <a:spcPts val="800"/>
              </a:spcAft>
              <a:defRPr sz="1400" b="1">
                <a:solidFill>
                  <a:srgbClr val="B91C1C"/>
                </a:solidFill>
              </a:defRPr>
            </a:pPr>
            <a:r>
              <a:t>ACADEMIC, ETHICAL &amp; CLINICAL DISCLAIMER</a:t>
            </a:r>
          </a:p>
          <a:p>
            <a:pPr>
              <a:spcAft>
                <a:spcPts val="600"/>
              </a:spcAft>
              <a:defRPr sz="950">
                <a:solidFill>
                  <a:srgbClr val="0F172A"/>
                </a:solidFill>
              </a:defRPr>
            </a:pPr>
            <a:r>
              <a:t>1. Academic Course Project Context: This project and software application ('AushadhaSahaya') was designed and developed under the Visvesvaraya Technological University (VTU) 2025 Scheme Course 1BCP308 (Community Project / Societal Project, Semester III) for the sole purpose of academic evaluation and engineering pedagogy.</a:t>
            </a:r>
          </a:p>
          <a:p>
            <a:pPr>
              <a:spcAft>
                <a:spcPts val="600"/>
              </a:spcAft>
              <a:defRPr sz="950">
                <a:solidFill>
                  <a:srgbClr val="0F172A"/>
                </a:solidFill>
              </a:defRPr>
            </a:pPr>
            <a:r>
              <a:t>2. Non-Commercial &amp; Politically Neutral: In strict compliance with VTU guidelines, this project is politically neutral, non-commercial, and oriented toward Educational Social Responsibility (ESR). It does not charge licensing fees or collect personal identifying data.</a:t>
            </a:r>
          </a:p>
          <a:p>
            <a:pPr>
              <a:spcAft>
                <a:spcPts val="600"/>
              </a:spcAft>
              <a:defRPr sz="950">
                <a:solidFill>
                  <a:srgbClr val="0F172A"/>
                </a:solidFill>
              </a:defRPr>
            </a:pPr>
            <a:r>
              <a:t>3. Clinical Advisory Notice: While drug-drug interaction pairs and Beers Criteria rules are curated from recognized open scientific repositories (US FDA OpenFDA, NIH NLM RxNorm, American Geriatrics Society), AushadhaSahaya is an assistive administrative monitoring tool and does NOT substitute professional medical judgment, clinical diagnosis, or physician prescription.</a:t>
            </a:r>
          </a:p>
          <a:p>
            <a:pPr>
              <a:spcAft>
                <a:spcPts val="600"/>
              </a:spcAft>
              <a:defRPr sz="950">
                <a:solidFill>
                  <a:srgbClr val="0F172A"/>
                </a:solidFill>
              </a:defRPr>
            </a:pPr>
            <a:r>
              <a:t>4. Data Privacy: Field survey figures and resident cohort records utilized in demonstrations are anonymized, seeded, and synthetically modeled based on regional eldercare baselines in Dakshina Kannada to protect individual patient confidentiality.</a:t>
            </a:r>
          </a:p>
          <a:p>
            <a:pPr>
              <a:spcAft>
                <a:spcPts val="600"/>
              </a:spcAft>
              <a:defRPr sz="950">
                <a:solidFill>
                  <a:srgbClr val="0F172A"/>
                </a:solidFill>
              </a:defRPr>
            </a:pPr>
            <a:r>
              <a:t>5. Open-Source Availability: All source code, datasets, test harnesses, and documentation are released under open academic licensing for peer study, departmental reproduction, and societal benefit in eldercare homes.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32720" cy="5029200"/>
          </a:xfrm>
          <a:prstGeom prst="rect">
            <a:avLst/>
          </a:prstGeom>
          <a:noFill/>
        </p:spPr>
        <p:txBody>
          <a:bodyPr wrap="square">
            <a:spAutoFit/>
          </a:bodyPr>
          <a:lstStyle/>
          <a:p>
            <a:pPr>
              <a:defRPr sz="1200" b="1">
                <a:solidFill>
                  <a:srgbClr val="0284C7"/>
                </a:solidFill>
              </a:defRPr>
            </a:pPr>
            <a:r>
              <a:t>CONNECT WITH VTUHUB</a:t>
            </a:r>
          </a:p>
          <a:p>
            <a:pPr>
              <a:spcAft>
                <a:spcPts val="1600"/>
              </a:spcAft>
              <a:defRPr sz="2600" b="1">
                <a:solidFill>
                  <a:srgbClr val="FFFFFF"/>
                </a:solidFill>
              </a:defRPr>
            </a:pPr>
            <a:r>
              <a:t>Official Academic Hub for VTU Students &amp; Faculty</a:t>
            </a:r>
          </a:p>
          <a:p>
            <a:pPr>
              <a:spcAft>
                <a:spcPts val="1200"/>
              </a:spcAft>
              <a:defRPr sz="1300">
                <a:solidFill>
                  <a:srgbClr val="BAE6FD"/>
                </a:solidFill>
              </a:defRPr>
            </a:pPr>
            <a:r>
              <a:t>📢 Telegram Channel: t.me/vtuhub</a:t>
            </a:r>
            <a:br/>
            <a:r>
              <a:t>• Download complete project manual (53-Page PDF), source code, datasets, and presentation PPTX.</a:t>
            </a:r>
            <a:br/>
            <a:r>
              <a:t>• Get week-by-week VTU 1BCP308 guidance, rubric mark sheets, and sample viva audio drills.</a:t>
            </a:r>
          </a:p>
          <a:p>
            <a:pPr>
              <a:spcAft>
                <a:spcPts val="1200"/>
              </a:spcAft>
              <a:defRPr sz="1300">
                <a:solidFill>
                  <a:srgbClr val="FED7AA"/>
                </a:solidFill>
              </a:defRPr>
            </a:pPr>
            <a:r>
              <a:t>📸 Instagram: @vtuhub</a:t>
            </a:r>
            <a:br/>
            <a:r>
              <a:t>• Video walkthrough of AushadhaSahaya web application, interactive DK district map, and MAR scheduler.</a:t>
            </a:r>
            <a:br/>
            <a:r>
              <a:t>• Visual infographics on polypharmacy risks, Beers criteria, and CIE/SEE rubric calculation tricks.</a:t>
            </a:r>
          </a:p>
          <a:p>
            <a:pPr>
              <a:spcAft>
                <a:spcPts val="1600"/>
              </a:spcAft>
              <a:defRPr sz="1300">
                <a:solidFill>
                  <a:srgbClr val="BBF7D0"/>
                </a:solidFill>
              </a:defRPr>
            </a:pPr>
            <a:r>
              <a:t>💬 WhatsApp Community: vtuhub</a:t>
            </a:r>
            <a:br/>
            <a:r>
              <a:t>• Instant doubts clearing for 1BCP308 Community Project submission.</a:t>
            </a:r>
            <a:br/>
            <a:r>
              <a:t>• GitHub &amp; Render deployment support for students across all VTU engineering colleges.</a:t>
            </a:r>
          </a:p>
          <a:p>
            <a:pPr>
              <a:defRPr sz="1100" b="1">
                <a:solidFill>
                  <a:srgbClr val="94A3B8"/>
                </a:solidFill>
              </a:defRPr>
            </a:pPr>
            <a:r>
              <a:t>Live Project URL: https://aushadhasahaya-api.onrender.com | GitHub: github.com/lokeshmr23/1BCP308Communityproject-2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